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SWITCH TO APP: have the dev server already open in a browser tab, pattern (a|b)*abb, test string babb, AST tab selected, ready before you start talking.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 demo on this slide. State the problem plainly, move on quickly.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 demo yet. Point at the boxes left to right while saying the pipeline sentence.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SWITCH TO APP: type (a|b)*abb in Pattern, point at the AST tab. Then type (ab and show the UnmatchedParen error and its position.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SWITCH TO APP: NFA tab. Point at an epsilon edge and the active-state highlight.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SWITCH TO APP: DFA tab. Point at the caption showing the NFA-set-for-this-prefix annotation.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 image here — the min-DFA diagram is on the next slide (matching). Say the fixpoint rule clearly, it's a likely question.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SWITCH TO APP: min-DFA tab, test string babb, point at Accepted. Then change to abab, point at Rejected.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SWITCH TO APP: NFA tab, click the step-forward arrow a couple of times, point at the multiple highlighted states and the purple traversed edges.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 demo. If asked how counts were obtained: npm ci + vitest run; cmake build + ./engine_tests, run fresh today, not recalled.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 demo. These are deliberate scope decisions — say so plainly, don't apologize for them.</a:t>
            </a:r>
          </a:p>
          <a:p>
            <a:r>
              <a:t>Also mention if there's time: character classes, +, and ? are literal characters today, not operators, scoped out on purpose; backreferences and lookahead are permanently out of scope since they are not regular languages.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Have docs/review-prep-plan.md section (d) open off-screen for the 12 prepped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Arial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377440"/>
            <a:ext cx="1033272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800" b="1">
                <a:solidFill>
                  <a:srgbClr val="000000"/>
                </a:solidFill>
                <a:latin typeface="Arial"/>
              </a:rPr>
              <a:t>RegexLab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383280"/>
            <a:ext cx="103327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>
                <a:solidFill>
                  <a:srgbClr val="000000"/>
                </a:solidFill>
                <a:latin typeface="Arial"/>
              </a:rPr>
              <a:t>A Hand-Built Regex-to-DFA Compiler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206240"/>
            <a:ext cx="10332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606060"/>
                </a:solidFill>
                <a:latin typeface="Arial"/>
              </a:rPr>
              <a:t>BCSE307L Compiler Design  —  Vignesh P C, Ujwal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Arial"/>
              </a:rP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9601200" cy="64008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2800" b="1">
                <a:solidFill>
                  <a:srgbClr val="000000"/>
                </a:solidFill>
                <a:latin typeface="Arial"/>
              </a:rPr>
              <a:t>The Problem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60120"/>
            <a:ext cx="11274552" cy="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1188720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>
                <a:solidFill>
                  <a:srgbClr val="000000"/>
                </a:solidFill>
                <a:latin typeface="Arial"/>
              </a:defRPr>
            </a:pPr>
            <a:r>
              <a:t>•  Given a regular expression and a string, decide whether the string matches — without using a built-in regex engine.</a:t>
            </a:r>
          </a:p>
          <a:p>
            <a:pPr>
              <a:spcAft>
                <a:spcPts val="1400"/>
              </a:spcAft>
              <a:defRPr sz="2000">
                <a:solidFill>
                  <a:srgbClr val="000000"/>
                </a:solidFill>
                <a:latin typeface="Arial"/>
              </a:defRPr>
            </a:pPr>
            <a:r>
              <a:t>•  Build the actual compiler pipeline that answers this: parser, NFA, DFA, minimization, matcher — not a lookup into an existing library.</a:t>
            </a:r>
          </a:p>
          <a:p>
            <a:pPr>
              <a:spcAft>
                <a:spcPts val="1400"/>
              </a:spcAft>
              <a:defRPr sz="2000">
                <a:solidFill>
                  <a:srgbClr val="000000"/>
                </a:solidFill>
                <a:latin typeface="Arial"/>
              </a:defRPr>
            </a:pPr>
            <a:r>
              <a:t>•  Show every intermediate structure, so the automata-theory constructions are visible, not hidden inside a black box.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Arial"/>
              </a:rP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9601200" cy="64008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2800" b="1">
                <a:solidFill>
                  <a:srgbClr val="000000"/>
                </a:solidFill>
                <a:latin typeface="Arial"/>
              </a:rPr>
              <a:t>Architecture: the Pass Pipeline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60120"/>
            <a:ext cx="11274552" cy="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457200" y="2011680"/>
            <a:ext cx="1691640" cy="731520"/>
          </a:xfrm>
          <a:prstGeom prst="rect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300">
                <a:solidFill>
                  <a:srgbClr val="000000"/>
                </a:solidFill>
                <a:latin typeface="Arial"/>
              </a:rPr>
              <a:t>Pattern
(text)</a:t>
            </a:r>
          </a:p>
        </p:txBody>
      </p:sp>
      <p:sp>
        <p:nvSpPr>
          <p:cNvPr id="6" name="Rectangle 5"/>
          <p:cNvSpPr/>
          <p:nvPr/>
        </p:nvSpPr>
        <p:spPr>
          <a:xfrm>
            <a:off x="2468880" y="2011680"/>
            <a:ext cx="1417320" cy="731520"/>
          </a:xfrm>
          <a:prstGeom prst="rect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300">
                <a:solidFill>
                  <a:srgbClr val="000000"/>
                </a:solidFill>
                <a:latin typeface="Arial"/>
              </a:rPr>
              <a:t>Parser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6240" y="2011680"/>
            <a:ext cx="1417320" cy="731520"/>
          </a:xfrm>
          <a:prstGeom prst="rect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300">
                <a:solidFill>
                  <a:srgbClr val="000000"/>
                </a:solidFill>
                <a:latin typeface="Arial"/>
              </a:rPr>
              <a:t>AST</a:t>
            </a:r>
          </a:p>
        </p:txBody>
      </p:sp>
      <p:sp>
        <p:nvSpPr>
          <p:cNvPr id="8" name="Rectangle 7"/>
          <p:cNvSpPr/>
          <p:nvPr/>
        </p:nvSpPr>
        <p:spPr>
          <a:xfrm>
            <a:off x="5943600" y="2011680"/>
            <a:ext cx="1691640" cy="731520"/>
          </a:xfrm>
          <a:prstGeom prst="rect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300">
                <a:solidFill>
                  <a:srgbClr val="000000"/>
                </a:solidFill>
                <a:latin typeface="Arial"/>
              </a:rPr>
              <a:t>Thompson's
Construction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7955279" y="2011680"/>
            <a:ext cx="1417320" cy="731520"/>
          </a:xfrm>
          <a:prstGeom prst="rect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300">
                <a:solidFill>
                  <a:srgbClr val="000000"/>
                </a:solidFill>
                <a:latin typeface="Arial"/>
              </a:rPr>
              <a:t>NFA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92640" y="2011680"/>
            <a:ext cx="1691640" cy="731520"/>
          </a:xfrm>
          <a:prstGeom prst="rect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300">
                <a:solidFill>
                  <a:srgbClr val="000000"/>
                </a:solidFill>
                <a:latin typeface="Arial"/>
              </a:rPr>
              <a:t>Subset
Construction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704320" y="2011680"/>
            <a:ext cx="1417320" cy="731520"/>
          </a:xfrm>
          <a:prstGeom prst="rect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300">
                <a:solidFill>
                  <a:srgbClr val="000000"/>
                </a:solidFill>
                <a:latin typeface="Arial"/>
              </a:rPr>
              <a:t>DFA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3441680" y="2011680"/>
            <a:ext cx="1691640" cy="731520"/>
          </a:xfrm>
          <a:prstGeom prst="rect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300">
                <a:solidFill>
                  <a:srgbClr val="000000"/>
                </a:solidFill>
                <a:latin typeface="Arial"/>
              </a:rPr>
              <a:t>Moore's
Minimization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5453360" y="2011680"/>
            <a:ext cx="1417320" cy="731520"/>
          </a:xfrm>
          <a:prstGeom prst="rect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300">
                <a:solidFill>
                  <a:srgbClr val="000000"/>
                </a:solidFill>
                <a:latin typeface="Arial"/>
              </a:rPr>
              <a:t>min-DFA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7190720" y="2011680"/>
            <a:ext cx="1417320" cy="731520"/>
          </a:xfrm>
          <a:prstGeom prst="rect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300">
                <a:solidFill>
                  <a:srgbClr val="000000"/>
                </a:solidFill>
                <a:latin typeface="Arial"/>
              </a:rPr>
              <a:t>Matcher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8928080" y="2011680"/>
            <a:ext cx="1691640" cy="731520"/>
          </a:xfrm>
          <a:prstGeom prst="rect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300">
                <a:solidFill>
                  <a:srgbClr val="000000"/>
                </a:solidFill>
                <a:latin typeface="Arial"/>
              </a:rPr>
              <a:t>match /
no-match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148840" y="2377440"/>
            <a:ext cx="320040" cy="0"/>
          </a:xfrm>
          <a:prstGeom prst="line">
            <a:avLst/>
          </a:prstGeom>
          <a:ln w="15875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3886200" y="2377440"/>
            <a:ext cx="320040" cy="0"/>
          </a:xfrm>
          <a:prstGeom prst="line">
            <a:avLst/>
          </a:prstGeom>
          <a:ln w="15875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5623559" y="2377440"/>
            <a:ext cx="320041" cy="0"/>
          </a:xfrm>
          <a:prstGeom prst="line">
            <a:avLst/>
          </a:prstGeom>
          <a:ln w="15875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7635240" y="2377440"/>
            <a:ext cx="320039" cy="0"/>
          </a:xfrm>
          <a:prstGeom prst="line">
            <a:avLst/>
          </a:prstGeom>
          <a:ln w="15875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9372600" y="2377440"/>
            <a:ext cx="320040" cy="0"/>
          </a:xfrm>
          <a:prstGeom prst="line">
            <a:avLst/>
          </a:prstGeom>
          <a:ln w="15875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1384280" y="2377440"/>
            <a:ext cx="320040" cy="0"/>
          </a:xfrm>
          <a:prstGeom prst="line">
            <a:avLst/>
          </a:prstGeom>
          <a:ln w="15875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13121640" y="2377440"/>
            <a:ext cx="320040" cy="0"/>
          </a:xfrm>
          <a:prstGeom prst="line">
            <a:avLst/>
          </a:prstGeom>
          <a:ln w="15875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5133320" y="2377440"/>
            <a:ext cx="320040" cy="0"/>
          </a:xfrm>
          <a:prstGeom prst="line">
            <a:avLst/>
          </a:prstGeom>
          <a:ln w="15875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6870680" y="2377440"/>
            <a:ext cx="320040" cy="0"/>
          </a:xfrm>
          <a:prstGeom prst="line">
            <a:avLst/>
          </a:prstGeom>
          <a:ln w="15875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18608040" y="2377440"/>
            <a:ext cx="320040" cy="0"/>
          </a:xfrm>
          <a:prstGeom prst="line">
            <a:avLst/>
          </a:prstGeom>
          <a:ln w="15875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 25"/>
          <p:cNvSpPr/>
          <p:nvPr/>
        </p:nvSpPr>
        <p:spPr>
          <a:xfrm>
            <a:off x="17213580" y="3474720"/>
            <a:ext cx="1371600" cy="640080"/>
          </a:xfrm>
          <a:prstGeom prst="rect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300">
                <a:solidFill>
                  <a:srgbClr val="000000"/>
                </a:solidFill>
                <a:latin typeface="Arial"/>
              </a:rPr>
              <a:t>Test string
(text)</a:t>
            </a:r>
          </a:p>
        </p:txBody>
      </p:sp>
      <p:cxnSp>
        <p:nvCxnSpPr>
          <p:cNvPr id="27" name="Connector 26"/>
          <p:cNvCxnSpPr/>
          <p:nvPr/>
        </p:nvCxnSpPr>
        <p:spPr>
          <a:xfrm flipV="1">
            <a:off x="17899380" y="2743200"/>
            <a:ext cx="0" cy="731520"/>
          </a:xfrm>
          <a:prstGeom prst="line">
            <a:avLst/>
          </a:prstGeom>
          <a:ln w="15875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457200" y="4206240"/>
            <a:ext cx="112471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>
                <a:solidFill>
                  <a:srgbClr val="000000"/>
                </a:solidFill>
                <a:latin typeface="Arial"/>
              </a:defRPr>
            </a:pPr>
            <a:r>
              <a:t>•  Two inputs: the pattern (compiled once, every stage) and the test string (only the matcher, and now the step playback on every tab).</a:t>
            </a:r>
          </a:p>
          <a:p>
            <a:pPr>
              <a:spcAft>
                <a:spcPts val="1400"/>
              </a:spcAft>
              <a:defRPr sz="1600">
                <a:solidFill>
                  <a:srgbClr val="000000"/>
                </a:solidFill>
                <a:latin typeface="Arial"/>
              </a:defRPr>
            </a:pPr>
            <a:r>
              <a:t>•  Implemented twice: a TypeScript prototype and a C++20 engine compiled to WebAssembly — the browser runs the C++/WASM build.</a:t>
            </a:r>
          </a:p>
          <a:p>
            <a:pPr>
              <a:spcAft>
                <a:spcPts val="1400"/>
              </a:spcAft>
              <a:defRPr sz="1600">
                <a:solidFill>
                  <a:srgbClr val="000000"/>
                </a:solidFill>
                <a:latin typeface="Arial"/>
              </a:defRPr>
            </a:pPr>
            <a:r>
              <a:t>•  Correctness: differential testing against std::regex and native RegExp, both languages must agree.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Arial"/>
              </a:rPr>
              <a:t>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9601200" cy="64008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2800" b="1">
                <a:solidFill>
                  <a:srgbClr val="000000"/>
                </a:solidFill>
                <a:latin typeface="Arial"/>
              </a:rPr>
              <a:t>Parsing: Recursive Descent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60120"/>
            <a:ext cx="11274552" cy="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1188720"/>
            <a:ext cx="53035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>
                <a:solidFill>
                  <a:srgbClr val="000000"/>
                </a:solidFill>
                <a:latin typeface="Arial"/>
              </a:defRPr>
            </a:pPr>
            <a:r>
              <a:t>•  regex → term ('|' term)*;  term → factor+;  factor → atom '*'?</a:t>
            </a:r>
          </a:p>
          <a:p>
            <a:pPr>
              <a:spcAft>
                <a:spcPts val="1400"/>
              </a:spcAft>
              <a:defRPr sz="1800">
                <a:solidFill>
                  <a:srgbClr val="000000"/>
                </a:solidFill>
                <a:latin typeface="Arial"/>
              </a:defRPr>
            </a:pPr>
            <a:r>
              <a:t>•  Precedence by call depth: parseRegex calls parseTerm calls parseFactor calls parseAtom — deepest binds tightest, no table.</a:t>
            </a:r>
          </a:p>
          <a:p>
            <a:pPr>
              <a:spcAft>
                <a:spcPts val="1400"/>
              </a:spcAft>
              <a:defRPr sz="1800">
                <a:solidFill>
                  <a:srgbClr val="000000"/>
                </a:solidFill>
                <a:latin typeface="Arial"/>
              </a:defRPr>
            </a:pPr>
            <a:r>
              <a:t>•  No separate lexer — every token is one character.</a:t>
            </a:r>
          </a:p>
        </p:txBody>
      </p:sp>
      <p:pic>
        <p:nvPicPr>
          <p:cNvPr id="6" name="Picture 5" descr="01-a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188720"/>
            <a:ext cx="4179389" cy="51206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126480" y="6355079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i="1">
                <a:solidFill>
                  <a:srgbClr val="606060"/>
                </a:solidFill>
                <a:latin typeface="Arial"/>
              </a:rPr>
              <a:t>Fig. 1. AST for (a|b)*abb, real app output.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Arial"/>
              </a:rPr>
              <a:t>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9601200" cy="64008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2800" b="1">
                <a:solidFill>
                  <a:srgbClr val="000000"/>
                </a:solidFill>
                <a:latin typeface="Arial"/>
              </a:rPr>
              <a:t>Thompson's Construction: AST → NFA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60120"/>
            <a:ext cx="11274552" cy="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1188720"/>
            <a:ext cx="53035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>
                <a:solidFill>
                  <a:srgbClr val="000000"/>
                </a:solidFill>
                <a:latin typeface="Arial"/>
              </a:defRPr>
            </a:pPr>
            <a:r>
              <a:t>•  Each AST node becomes a fragment: one start state, one accept state.</a:t>
            </a:r>
          </a:p>
          <a:p>
            <a:pPr>
              <a:spcAft>
                <a:spcPts val="1400"/>
              </a:spcAft>
              <a:defRPr sz="1800">
                <a:solidFill>
                  <a:srgbClr val="000000"/>
                </a:solidFill>
                <a:latin typeface="Arial"/>
              </a:defRPr>
            </a:pPr>
            <a:r>
              <a:t>•  A character costs 2 states; '|' and '*' each add 2 more for their own start/accept pair.</a:t>
            </a:r>
          </a:p>
          <a:p>
            <a:pPr>
              <a:spcAft>
                <a:spcPts val="1400"/>
              </a:spcAft>
              <a:defRPr sz="1800">
                <a:solidFill>
                  <a:srgbClr val="000000"/>
                </a:solidFill>
                <a:latin typeface="Arial"/>
              </a:defRPr>
            </a:pPr>
            <a:r>
              <a:t>•  (a|b)*abb: 5 chars × 2 + 2 (for *) + 2 (for |) = 14 states.</a:t>
            </a:r>
          </a:p>
        </p:txBody>
      </p:sp>
      <p:pic>
        <p:nvPicPr>
          <p:cNvPr id="6" name="Picture 5" descr="02-nf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005840"/>
            <a:ext cx="5462566" cy="5394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943600" y="6446520"/>
            <a:ext cx="5760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i="1">
                <a:solidFill>
                  <a:srgbClr val="606060"/>
                </a:solidFill>
                <a:latin typeface="Arial"/>
              </a:rPr>
              <a:t>Fig. 2. NFA, 14 states, ε-closure of the start state highlighted.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Arial"/>
              </a:rPr>
              <a:t>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9601200" cy="64008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2800" b="1">
                <a:solidFill>
                  <a:srgbClr val="000000"/>
                </a:solidFill>
                <a:latin typeface="Arial"/>
              </a:rPr>
              <a:t>Subset Construction: NFA → DFA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60120"/>
            <a:ext cx="11274552" cy="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1188720"/>
            <a:ext cx="53035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>
                <a:solidFill>
                  <a:srgbClr val="000000"/>
                </a:solidFill>
                <a:latin typeface="Arial"/>
              </a:defRPr>
            </a:pPr>
            <a:r>
              <a:t>•  Each DFA state = a set of NFA states, closed over epsilon moves.</a:t>
            </a:r>
          </a:p>
          <a:p>
            <a:pPr>
              <a:spcAft>
                <a:spcPts val="1400"/>
              </a:spcAft>
              <a:defRPr sz="1800">
                <a:solidFill>
                  <a:srgbClr val="000000"/>
                </a:solidFill>
                <a:latin typeface="Arial"/>
              </a:defRPr>
            </a:pPr>
            <a:r>
              <a:t>•  Worklist-based: from the start set, try every symbol, create a new DFA state only for a never-seen set.</a:t>
            </a:r>
          </a:p>
          <a:p>
            <a:pPr>
              <a:spcAft>
                <a:spcPts val="1400"/>
              </a:spcAft>
              <a:defRPr sz="1800">
                <a:solidFill>
                  <a:srgbClr val="000000"/>
                </a:solidFill>
                <a:latin typeface="Arial"/>
              </a:defRPr>
            </a:pPr>
            <a:r>
              <a:t>•  14 NFA states → 5 DFA states for this pattern.</a:t>
            </a:r>
          </a:p>
        </p:txBody>
      </p:sp>
      <p:pic>
        <p:nvPicPr>
          <p:cNvPr id="6" name="Picture 5" descr="03-df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188720"/>
            <a:ext cx="3902130" cy="51206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126480" y="6355079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i="1">
                <a:solidFill>
                  <a:srgbClr val="606060"/>
                </a:solidFill>
                <a:latin typeface="Arial"/>
              </a:rPr>
              <a:t>Fig. 3. DFA, 5 states; caption shows the NFA set behind the start state.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Arial"/>
              </a:rPr>
              <a:t>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9601200" cy="64008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2800" b="1">
                <a:solidFill>
                  <a:srgbClr val="000000"/>
                </a:solidFill>
                <a:latin typeface="Arial"/>
              </a:rPr>
              <a:t>Moore's Minimization: DFA → min-DFA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60120"/>
            <a:ext cx="11274552" cy="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1371600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>
                <a:solidFill>
                  <a:srgbClr val="000000"/>
                </a:solidFill>
                <a:latin typeface="Arial"/>
              </a:defRPr>
            </a:pPr>
            <a:r>
              <a:t>•  Start with 2 groups (accepting, non-accepting); split a group whenever two states react differently to some symbol.</a:t>
            </a:r>
          </a:p>
          <a:p>
            <a:pPr>
              <a:spcAft>
                <a:spcPts val="1400"/>
              </a:spcAft>
              <a:defRPr sz="2000">
                <a:solidFill>
                  <a:srgbClr val="000000"/>
                </a:solidFill>
                <a:latin typeface="Arial"/>
              </a:defRPr>
            </a:pPr>
            <a:r>
              <a:t>•  Stop at a fixpoint — a full pass with zero splits.</a:t>
            </a:r>
          </a:p>
          <a:p>
            <a:pPr>
              <a:spcAft>
                <a:spcPts val="1400"/>
              </a:spcAft>
              <a:defRPr sz="2000">
                <a:solidFill>
                  <a:srgbClr val="000000"/>
                </a:solidFill>
                <a:latin typeface="Arial"/>
              </a:defRPr>
            </a:pPr>
            <a:r>
              <a:t>•  5 DFA states → 4 minimal states here (states 0 and 2 merge). The result is the unique minimal DFA (Myhill–Nerode theorem).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Arial"/>
              </a:rPr>
              <a:t>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9601200" cy="64008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2800" b="1">
                <a:solidFill>
                  <a:srgbClr val="000000"/>
                </a:solidFill>
                <a:latin typeface="Arial"/>
              </a:rPr>
              <a:t>Matching: babb Accepted, abab Rejected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60120"/>
            <a:ext cx="11274552" cy="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1188720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>
                <a:solidFill>
                  <a:srgbClr val="000000"/>
                </a:solidFill>
                <a:latin typeface="Arial"/>
              </a:defRPr>
            </a:pPr>
            <a:r>
              <a:t>•  Matcher walks the min-DFA one character at a time, no backtracking.</a:t>
            </a:r>
          </a:p>
          <a:p>
            <a:pPr>
              <a:spcAft>
                <a:spcPts val="1400"/>
              </a:spcAft>
              <a:defRPr sz="1800">
                <a:solidFill>
                  <a:srgbClr val="000000"/>
                </a:solidFill>
                <a:latin typeface="Arial"/>
              </a:defRPr>
            </a:pPr>
            <a:r>
              <a:t>•  (a|b)*abb only cares whether the string ends in 'abb'.</a:t>
            </a:r>
          </a:p>
        </p:txBody>
      </p:sp>
      <p:pic>
        <p:nvPicPr>
          <p:cNvPr id="6" name="Picture 5" descr="04-mindfa-accep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103120"/>
            <a:ext cx="3685597" cy="42062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6355079"/>
            <a:ext cx="5394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i="1">
                <a:solidFill>
                  <a:srgbClr val="606060"/>
                </a:solidFill>
                <a:latin typeface="Arial"/>
              </a:rPr>
              <a:t>Fig. 4a. babb — ends in abb → Accepted.</a:t>
            </a:r>
          </a:p>
        </p:txBody>
      </p:sp>
      <p:pic>
        <p:nvPicPr>
          <p:cNvPr id="8" name="Picture 7" descr="05-mindfa-reject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2103120"/>
            <a:ext cx="3685597" cy="42062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17920" y="6355079"/>
            <a:ext cx="5394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i="1">
                <a:solidFill>
                  <a:srgbClr val="606060"/>
                </a:solidFill>
                <a:latin typeface="Arial"/>
              </a:rPr>
              <a:t>Fig. 4b. abab — ends in bab, not abb → Rejected.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Arial"/>
              </a:rPr>
              <a:t>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9601200" cy="64008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2800" b="1">
                <a:solidFill>
                  <a:srgbClr val="000000"/>
                </a:solidFill>
                <a:latin typeface="Arial"/>
              </a:rPr>
              <a:t>Step Playback (issue #52)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60120"/>
            <a:ext cx="11274552" cy="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1188720"/>
            <a:ext cx="53035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>
                <a:solidFill>
                  <a:srgbClr val="000000"/>
                </a:solidFill>
                <a:latin typeface="Arial"/>
              </a:defRPr>
            </a:pPr>
            <a:r>
              <a:t>•  All four tabs have real, stage-specific playback — not just min-DFA scrubbing.</a:t>
            </a:r>
          </a:p>
          <a:p>
            <a:pPr>
              <a:spcAft>
                <a:spcPts val="1400"/>
              </a:spcAft>
              <a:defRPr sz="1800">
                <a:solidFill>
                  <a:srgbClr val="000000"/>
                </a:solidFill>
                <a:latin typeface="Arial"/>
              </a:defRPr>
            </a:pPr>
            <a:r>
              <a:t>•  NFA shows the FULL active-state set and highlights every traversed edge, epsilon included.</a:t>
            </a:r>
          </a:p>
          <a:p>
            <a:pPr>
              <a:spcAft>
                <a:spcPts val="1400"/>
              </a:spcAft>
              <a:defRPr sz="1800">
                <a:solidFill>
                  <a:srgbClr val="000000"/>
                </a:solidFill>
                <a:latin typeface="Arial"/>
              </a:defRPr>
            </a:pPr>
            <a:r>
              <a:t>•  AST steps through the tree in Thompson's-construction order, with a caption naming the rule.</a:t>
            </a:r>
          </a:p>
        </p:txBody>
      </p:sp>
      <p:pic>
        <p:nvPicPr>
          <p:cNvPr id="6" name="Picture 5" descr="06-playback-midru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005840"/>
            <a:ext cx="5462566" cy="5394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943600" y="6446520"/>
            <a:ext cx="5760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i="1">
                <a:solidFill>
                  <a:srgbClr val="606060"/>
                </a:solidFill>
                <a:latin typeface="Arial"/>
              </a:rPr>
              <a:t>Fig. 5. NFA tab, step 2 of 4, multi-state + traversed-edge highlighting.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Arial"/>
              </a:rPr>
              <a:t>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9601200" cy="64008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2800" b="1">
                <a:solidFill>
                  <a:srgbClr val="000000"/>
                </a:solidFill>
                <a:latin typeface="Arial"/>
              </a:rPr>
              <a:t>Testing: How We Know It's Correct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60120"/>
            <a:ext cx="11274552" cy="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1463040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>
                <a:solidFill>
                  <a:srgbClr val="000000"/>
                </a:solidFill>
                <a:latin typeface="Arial"/>
              </a:defRPr>
            </a:pPr>
            <a:r>
              <a:t>•  Differential testing: thousands of random (pattern, input) pairs vs std::regex (C++) and native RegExp (TypeScript) — both independent implementations must agree.</a:t>
            </a:r>
          </a:p>
          <a:p>
            <a:pPr>
              <a:spcAft>
                <a:spcPts val="1400"/>
              </a:spcAft>
              <a:defRPr sz="2000">
                <a:solidFill>
                  <a:srgbClr val="000000"/>
                </a:solidFill>
                <a:latin typeface="Arial"/>
              </a:defRPr>
            </a:pPr>
            <a:r>
              <a:t>•  Measured today: 93 TypeScript tests / 7 files; 4,608 C++ assertions / 41 cases.</a:t>
            </a:r>
          </a:p>
          <a:p>
            <a:pPr>
              <a:spcAft>
                <a:spcPts val="1400"/>
              </a:spcAft>
              <a:defRPr sz="2000">
                <a:solidFill>
                  <a:srgbClr val="000000"/>
                </a:solidFill>
                <a:latin typeface="Arial"/>
              </a:defRPr>
            </a:pPr>
            <a:r>
              <a:t>•  WASM build verified: 25/25 guard probes passed (length cap, nesting cap, non-ASCII handling) against the real compiled module.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Arial"/>
              </a:rPr>
              <a:t>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9601200" cy="64008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2800" b="1">
                <a:solidFill>
                  <a:srgbClr val="000000"/>
                </a:solidFill>
                <a:latin typeface="Arial"/>
              </a:rPr>
              <a:t>Scope Decisions, Stated Honestly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60120"/>
            <a:ext cx="11274552" cy="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1280160"/>
            <a:ext cx="10789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>
                <a:solidFill>
                  <a:srgbClr val="000000"/>
                </a:solidFill>
                <a:latin typeface="Arial"/>
              </a:defRPr>
            </a:pPr>
            <a:r>
              <a:t>•  Direct method (firstpos/followpos) not built — we chose the indirect Thompson + subset-construction route on purpose.</a:t>
            </a:r>
          </a:p>
          <a:p>
            <a:pPr>
              <a:spcAft>
                <a:spcPts val="1400"/>
              </a:spcAft>
              <a:defRPr sz="1800">
                <a:solidFill>
                  <a:srgbClr val="000000"/>
                </a:solidFill>
                <a:latin typeface="Arial"/>
              </a:defRPr>
            </a:pPr>
            <a:r>
              <a:t>•  Hopcroft's minimization not built — Moore's is simpler to implement and explain fully; Hopcroft's is a planned, gated upgrade.</a:t>
            </a:r>
          </a:p>
          <a:p>
            <a:pPr>
              <a:spcAft>
                <a:spcPts val="1400"/>
              </a:spcAft>
              <a:defRPr sz="1800">
                <a:solidFill>
                  <a:srgbClr val="000000"/>
                </a:solidFill>
                <a:latin typeface="Arial"/>
              </a:defRPr>
            </a:pPr>
            <a:r>
              <a:t>•  No dedicated DFA state-count guard against subset construction's exponential worst case — the 500-char pattern cap bounds it indirectly, not tightly.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Arial"/>
              </a:rPr>
              <a:t>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926080"/>
            <a:ext cx="1033272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400" b="1">
                <a:solidFill>
                  <a:srgbClr val="000000"/>
                </a:solidFill>
                <a:latin typeface="Arial"/>
              </a:rPr>
              <a:t>Questions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RegexLab</dc:title>
  <dc:subject>BCSE307L Compiler Design -- Project Review</dc:subject>
  <dc:creator>Vignesh P C, Ujwal</dc:creator>
  <cp:keywords/>
  <dc:description/>
  <cp:lastModifiedBy>Vignesh P C, Ujwal</cp:lastModifiedBy>
  <cp:revision>1</cp:revision>
  <dcterms:created xsi:type="dcterms:W3CDTF">2013-01-27T09:14:16Z</dcterms:created>
  <dcterms:modified xsi:type="dcterms:W3CDTF">2013-01-27T09:15:58Z</dcterms:modified>
  <cp:category/>
</cp:coreProperties>
</file>